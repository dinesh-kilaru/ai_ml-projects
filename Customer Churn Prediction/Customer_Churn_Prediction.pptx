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49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2B3A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2B2B3A"/>
                </a:solidFill>
                <a:latin typeface="Calibri"/>
              </a:rPr>
              <a:t>Customers Who Stayed vs. Churned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1B8-4187-A8D4-919FB5DF4246}"/>
              </c:ext>
            </c:extLst>
          </c:dPt>
          <c:dPt>
            <c:idx val="1"/>
            <c:invertIfNegative val="0"/>
            <c:bubble3D val="0"/>
            <c:spPr>
              <a:solidFill>
                <a:srgbClr val="E87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1B8-4187-A8D4-919FB5DF424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B2B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Stayed</c:v>
                </c:pt>
                <c:pt idx="1">
                  <c:v>Churned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5174</c:v>
                </c:pt>
                <c:pt idx="1">
                  <c:v>1869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1B8-4187-A8D4-919FB5DF424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2B3A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2B2B3A"/>
                </a:solidFill>
                <a:latin typeface="Calibri"/>
              </a:rPr>
              <a:t>Accuracy on Test Data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33C-4EFE-9B47-B1E6F9BDB019}"/>
              </c:ext>
            </c:extLst>
          </c:dPt>
          <c:dPt>
            <c:idx val="1"/>
            <c:invertIfNegative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33C-4EFE-9B47-B1E6F9BDB019}"/>
              </c:ext>
            </c:extLst>
          </c:dPt>
          <c:dPt>
            <c:idx val="2"/>
            <c:invertIfNegative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33C-4EFE-9B47-B1E6F9BDB019}"/>
              </c:ext>
            </c:extLst>
          </c:dPt>
          <c:dPt>
            <c:idx val="3"/>
            <c:invertIfNegative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33C-4EFE-9B47-B1E6F9BDB019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B2B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
Regression</c:v>
                </c:pt>
                <c:pt idx="1">
                  <c:v>Random
Forest</c:v>
                </c:pt>
                <c:pt idx="2">
                  <c:v>Decision
Tree</c:v>
                </c:pt>
                <c:pt idx="3">
                  <c:v>KNN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82.2</c:v>
                </c:pt>
                <c:pt idx="1">
                  <c:v>79.2</c:v>
                </c:pt>
                <c:pt idx="2">
                  <c:v>71.8</c:v>
                </c:pt>
                <c:pt idx="3">
                  <c:v>76.8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33C-4EFE-9B47-B1E6F9BDB01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9000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ln w="1905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-548640"/>
            <a:ext cx="2560320" cy="2560320"/>
          </a:xfrm>
          <a:prstGeom prst="ellipse">
            <a:avLst/>
          </a:prstGeom>
          <a:ln w="19050">
            <a:solidFill>
              <a:srgbClr val="E8734A">
                <a:alpha val="7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606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CHURN PREDICTION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68680" y="3337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ML MODEL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1675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9BA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:</a:t>
            </a:r>
          </a:p>
          <a:p>
            <a:pPr marL="0" indent="0" algn="l">
              <a:buNone/>
            </a:pPr>
            <a:r>
              <a:rPr lang="en-US" sz="1300" i="1" dirty="0">
                <a:solidFill>
                  <a:srgbClr val="9BA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Kilaru Dinesh</a:t>
            </a:r>
            <a:br>
              <a:rPr lang="en-US" sz="1300" i="1" dirty="0">
                <a:solidFill>
                  <a:srgbClr val="9BA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i="1" dirty="0">
                <a:solidFill>
                  <a:srgbClr val="9BA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Does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309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customers stop using a company's service over time. This is called “churn.”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model that studies old customer data and learns on what basis and able to predicts if a new customer will churn or not.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475488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IN" b="1" dirty="0"/>
              <a:t>Telco Customer Churn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from Kaggle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080239" y="1188720"/>
            <a:ext cx="4651513" cy="3383280"/>
          </a:xfrm>
          <a:prstGeom prst="roundRect">
            <a:avLst>
              <a:gd name="adj" fmla="val 6061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35340" y="1821843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7,043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364772" y="2788920"/>
            <a:ext cx="2242268" cy="678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0" y="32461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7452360" y="4069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555480" y="1463040"/>
            <a:ext cx="19202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9692640" y="4069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Load and Get to Know the Data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956816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the data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22860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records are loaded into the table using pandas.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3008376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the table-</a:t>
            </a:r>
            <a:r>
              <a:rPr lang="en-US" sz="1600" b="1" dirty="0" err="1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df.head</a:t>
            </a:r>
            <a:r>
              <a:rPr lang="en-US" sz="1600" b="1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33375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few rows are viewed to see what the columns look like — names, gender, contract type, charges, and more.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114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4059936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</a:t>
            </a:r>
            <a:r>
              <a:rPr lang="en-US" sz="1600" b="1" dirty="0" err="1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no.of</a:t>
            </a:r>
            <a:r>
              <a:rPr lang="en-US" sz="1600" b="1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columns-</a:t>
            </a:r>
            <a:r>
              <a:rPr lang="en-US" sz="1600" b="1" dirty="0" err="1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df.shape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438912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checks how many rows and columns exist, and whether each column holds text or numbers.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166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5111496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Statistics-</a:t>
            </a:r>
            <a:r>
              <a:rPr lang="en-US" sz="1600" b="1" dirty="0" err="1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df.describe</a:t>
            </a:r>
            <a:r>
              <a:rPr lang="en-US" sz="1600" b="1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54406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statistics (average, minimum, maximum) are reviewed for numeric columns like monthly charges.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— Clean the Data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2139696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missing values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24688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empty cells in the data are filled in so nothing is left blank.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5661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3511296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 records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38404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customer record that appears more than once is found and removed.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9377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4882896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outliers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52120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IQR method finds and removes extreme </a:t>
            </a:r>
            <a:r>
              <a:rPr lang="en-US" sz="12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valiues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— Explore the Data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691640"/>
          <a:ext cx="603504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040880" y="1920240"/>
            <a:ext cx="4480560" cy="1463040"/>
          </a:xfrm>
          <a:prstGeom prst="roundRect">
            <a:avLst>
              <a:gd name="adj" fmla="val 6250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040880" y="201168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/>
              <a:t>1869</a:t>
            </a:r>
          </a:p>
        </p:txBody>
      </p:sp>
      <p:sp>
        <p:nvSpPr>
          <p:cNvPr id="7" name="Text 4"/>
          <p:cNvSpPr/>
          <p:nvPr/>
        </p:nvSpPr>
        <p:spPr>
          <a:xfrm>
            <a:off x="7178040" y="27889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customers in this dataset had churned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040880" y="365760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 — Prepare the Data for Modeling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2139696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24688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like gender and contract type are text. The code converts these categories into numbers the model can use.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5661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3511296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numbers on the same scale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38404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and total charges are scaled using </a:t>
            </a:r>
            <a:r>
              <a:rPr lang="en-US" sz="12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Stadardscalar</a:t>
            </a: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9377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4882896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training and testing sets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52120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the data is to teach the model, and 20% is to test how well it learned.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 — Train Several Models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24028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21671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straightforward model that estimates the chance a customer will churn.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96596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224028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49440" y="21671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00800" y="28346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many decision trees together for a well-rounded prediction.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16052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43484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434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43616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914400" y="502920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customers into groups using a series of yes/no questions.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416052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4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443484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434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49440" y="43616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Neighbours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00800" y="502920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based on how similar a customer is to others in the data.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 — Compare the Models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is tested on the data it has not seen before, and scored on accuracy.</a:t>
            </a:r>
            <a:endParaRPr lang="en-US" sz="13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1097280" y="1737360"/>
          <a:ext cx="99669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ln w="1905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400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3291840" cy="3291840"/>
          </a:xfrm>
          <a:prstGeom prst="roundRect">
            <a:avLst>
              <a:gd name="adj" fmla="val 2778"/>
            </a:avLst>
          </a:prstGeom>
          <a:solidFill>
            <a:srgbClr val="26307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0312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1143000" y="36118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accuracy, from Logistic Regression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937760" y="1737360"/>
            <a:ext cx="6400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four models tested, Logistic Regression performed the best on remaining data.</a:t>
            </a:r>
            <a:endParaRPr lang="en-US" sz="1550" dirty="0"/>
          </a:p>
          <a:p>
            <a:pPr marL="342900" indent="-3429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model is saved to a file, so it can be reused to score new customers without retraining.</a:t>
            </a:r>
            <a:endParaRPr lang="en-US" sz="1550" dirty="0"/>
          </a:p>
          <a:p>
            <a:pPr marL="342900" indent="-3429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finished model can help the business spot at-risk customers early and act before they leave.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5852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508</Words>
  <Application>Microsoft Office PowerPoint</Application>
  <PresentationFormat>Widescreen</PresentationFormat>
  <Paragraphs>91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Dinesh Kilaru</cp:lastModifiedBy>
  <cp:revision>2</cp:revision>
  <dcterms:created xsi:type="dcterms:W3CDTF">2026-08-07T11:58:14Z</dcterms:created>
  <dcterms:modified xsi:type="dcterms:W3CDTF">2026-08-07T12:18:17Z</dcterms:modified>
</cp:coreProperties>
</file>